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324" r:id="rId2"/>
    <p:sldId id="326" r:id="rId3"/>
    <p:sldId id="339" r:id="rId4"/>
    <p:sldId id="329" r:id="rId5"/>
    <p:sldId id="338" r:id="rId6"/>
    <p:sldId id="327" r:id="rId7"/>
    <p:sldId id="335" r:id="rId8"/>
    <p:sldId id="332" r:id="rId9"/>
    <p:sldId id="342" r:id="rId10"/>
    <p:sldId id="340" r:id="rId11"/>
    <p:sldId id="328" r:id="rId12"/>
    <p:sldId id="331" r:id="rId13"/>
    <p:sldId id="347" r:id="rId14"/>
    <p:sldId id="348" r:id="rId15"/>
    <p:sldId id="344" r:id="rId16"/>
    <p:sldId id="349" r:id="rId17"/>
    <p:sldId id="343" r:id="rId18"/>
    <p:sldId id="346" r:id="rId19"/>
    <p:sldId id="336" r:id="rId20"/>
    <p:sldId id="337" r:id="rId21"/>
    <p:sldId id="345" r:id="rId22"/>
  </p:sldIdLst>
  <p:sldSz cx="9144000" cy="6858000" type="screen4x3"/>
  <p:notesSz cx="6797675" cy="9926638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A1"/>
    <a:srgbClr val="A71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85190" autoAdjust="0"/>
  </p:normalViewPr>
  <p:slideViewPr>
    <p:cSldViewPr snapToObjects="1">
      <p:cViewPr varScale="1">
        <p:scale>
          <a:sx n="102" d="100"/>
          <a:sy n="102" d="100"/>
        </p:scale>
        <p:origin x="13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7F43D594-09AF-41B2-A5FB-BFA084D9B7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F5C8914-6750-4325-B9B5-0BAACA4B00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2EF1C69C-3E63-4CE5-BD6F-20C5890765E2}" type="datetimeFigureOut">
              <a:rPr lang="pl-PL"/>
              <a:pPr>
                <a:defRPr/>
              </a:pPr>
              <a:t>20.06.2022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7E1BE4F-DF9E-40AF-9BF8-A805669846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DAD2B8-F6AB-467C-86FD-38BAFC68FE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C6E3B13-0CBE-4445-BB79-ECB7E6895FF6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4D85EB2E-222A-462E-BD03-4D247E2A60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F0F2795-C1A9-4B85-82A3-03E7AAC025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93E408F-5F0E-484C-9E34-389A690C5DC8}" type="datetimeFigureOut">
              <a:rPr lang="pl-PL"/>
              <a:pPr>
                <a:defRPr/>
              </a:pPr>
              <a:t>20.06.2022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663BD782-CC93-4D36-94A4-990179CB8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2" tIns="50141" rIns="100282" bIns="50141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1F640E4F-C8D2-4327-8902-01CDEA3FE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100282" tIns="50141" rIns="100282" bIns="50141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2255C58-6B15-4571-9C31-52B8FD39C3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212F9FB-6072-42CC-AF2B-53EF48B13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579B405-6F88-4278-83A8-9CAB47FB7A87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6E922AE5-F0A1-4CDA-A1CF-34D62EE34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ytuł 1">
            <a:extLst>
              <a:ext uri="{FF2B5EF4-FFF2-40B4-BE49-F238E27FC236}">
                <a16:creationId xmlns:a16="http://schemas.microsoft.com/office/drawing/2014/main" id="{41742C5E-A127-49F2-8D4C-D4937F1833E7}"/>
              </a:ext>
            </a:extLst>
          </p:cNvPr>
          <p:cNvSpPr txBox="1">
            <a:spLocks/>
          </p:cNvSpPr>
          <p:nvPr/>
        </p:nvSpPr>
        <p:spPr bwMode="auto">
          <a:xfrm>
            <a:off x="290513" y="2420938"/>
            <a:ext cx="8640762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>
              <a:defRPr/>
            </a:pPr>
            <a:endParaRPr lang="pl-PL" kern="0" dirty="0">
              <a:latin typeface="Calibri" panose="020F0502020204030204" pitchFamily="34" charset="0"/>
            </a:endParaRPr>
          </a:p>
        </p:txBody>
      </p:sp>
      <p:pic>
        <p:nvPicPr>
          <p:cNvPr id="6" name="Symbol zastępczy obrazu 4">
            <a:extLst>
              <a:ext uri="{FF2B5EF4-FFF2-40B4-BE49-F238E27FC236}">
                <a16:creationId xmlns:a16="http://schemas.microsoft.com/office/drawing/2014/main" id="{CD1F4FD9-3DBC-4869-8444-64221D982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1403350" y="5649913"/>
            <a:ext cx="1533525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Prostokąt 6">
            <a:extLst>
              <a:ext uri="{FF2B5EF4-FFF2-40B4-BE49-F238E27FC236}">
                <a16:creationId xmlns:a16="http://schemas.microsoft.com/office/drawing/2014/main" id="{6F84ED3C-890B-45DF-8829-38D375401E8E}"/>
              </a:ext>
            </a:extLst>
          </p:cNvPr>
          <p:cNvSpPr/>
          <p:nvPr/>
        </p:nvSpPr>
        <p:spPr>
          <a:xfrm>
            <a:off x="4356100" y="5707063"/>
            <a:ext cx="4662488" cy="10350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l-PL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B1D2CD6-2AC5-4020-9057-FB0AA4F61E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5784850"/>
            <a:ext cx="4143375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25947" y="1988840"/>
            <a:ext cx="8892103" cy="35283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25947" y="116632"/>
            <a:ext cx="8892103" cy="1728192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89354087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3">
            <a:extLst>
              <a:ext uri="{FF2B5EF4-FFF2-40B4-BE49-F238E27FC236}">
                <a16:creationId xmlns:a16="http://schemas.microsoft.com/office/drawing/2014/main" id="{F9880449-77C9-4B24-9200-2AFB1F3C7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Symbol zastępczy obrazu 4">
            <a:extLst>
              <a:ext uri="{FF2B5EF4-FFF2-40B4-BE49-F238E27FC236}">
                <a16:creationId xmlns:a16="http://schemas.microsoft.com/office/drawing/2014/main" id="{74DA9F51-ABA1-4E13-9EFF-642178B48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1403350" y="5649913"/>
            <a:ext cx="1533525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Prostokąt 6">
            <a:extLst>
              <a:ext uri="{FF2B5EF4-FFF2-40B4-BE49-F238E27FC236}">
                <a16:creationId xmlns:a16="http://schemas.microsoft.com/office/drawing/2014/main" id="{B8248082-7EBE-4896-91C6-163CA4426BB6}"/>
              </a:ext>
            </a:extLst>
          </p:cNvPr>
          <p:cNvSpPr/>
          <p:nvPr/>
        </p:nvSpPr>
        <p:spPr>
          <a:xfrm>
            <a:off x="4356100" y="5707063"/>
            <a:ext cx="4662488" cy="10350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l-PL"/>
          </a:p>
        </p:txBody>
      </p:sp>
      <p:pic>
        <p:nvPicPr>
          <p:cNvPr id="8" name="Obraz 6">
            <a:extLst>
              <a:ext uri="{FF2B5EF4-FFF2-40B4-BE49-F238E27FC236}">
                <a16:creationId xmlns:a16="http://schemas.microsoft.com/office/drawing/2014/main" id="{46E14826-A73D-40DB-8D77-2F1E5D98B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5784850"/>
            <a:ext cx="4143375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4704169" y="2492896"/>
            <a:ext cx="4313881" cy="1152128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07504" y="116632"/>
            <a:ext cx="4464496" cy="5400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4704169" y="116632"/>
            <a:ext cx="4313881" cy="2232248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885405538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3">
            <a:extLst>
              <a:ext uri="{FF2B5EF4-FFF2-40B4-BE49-F238E27FC236}">
                <a16:creationId xmlns:a16="http://schemas.microsoft.com/office/drawing/2014/main" id="{2ED245D1-DCA4-426F-B11F-D0CFC0910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F45A2F91-2C36-47DB-B3EC-98B526670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48424427-8901-4507-8611-B8251211702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C8F6AB3B-7CC1-47B2-9C25-FD19D7A50FAD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11" name="Obraz 6">
            <a:extLst>
              <a:ext uri="{FF2B5EF4-FFF2-40B4-BE49-F238E27FC236}">
                <a16:creationId xmlns:a16="http://schemas.microsoft.com/office/drawing/2014/main" id="{6725BCB1-FBCA-4E7C-B28A-F70F72BDA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7505" y="1556792"/>
            <a:ext cx="8910546" cy="453650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/>
          </p:nvPr>
        </p:nvSpPr>
        <p:spPr>
          <a:xfrm>
            <a:off x="129753" y="44624"/>
            <a:ext cx="8910546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29753" y="548680"/>
            <a:ext cx="8910546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051601010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3">
            <a:extLst>
              <a:ext uri="{FF2B5EF4-FFF2-40B4-BE49-F238E27FC236}">
                <a16:creationId xmlns:a16="http://schemas.microsoft.com/office/drawing/2014/main" id="{F68D09C2-B99D-4123-9FA7-67FE6D86D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AA83C5B-C1EB-4C74-8D3F-A71D67656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7281F9D4-E0F8-404B-9DC0-53F260275EA3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pl-PL" altLang="pl-PL" sz="1000">
              <a:solidFill>
                <a:schemeClr val="bg1"/>
              </a:solidFill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58AE49C4-F9B8-4053-8852-6E331BB2E526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11" name="Obraz 6">
            <a:extLst>
              <a:ext uri="{FF2B5EF4-FFF2-40B4-BE49-F238E27FC236}">
                <a16:creationId xmlns:a16="http://schemas.microsoft.com/office/drawing/2014/main" id="{F057DF00-A34D-4ACE-BD8F-85B550AB6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377" y="1844823"/>
            <a:ext cx="4283591" cy="43204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4571428" y="1844823"/>
            <a:ext cx="4465067" cy="4320481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107505" y="116632"/>
            <a:ext cx="8910546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107505" y="1120625"/>
            <a:ext cx="8928990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396140421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3">
            <a:extLst>
              <a:ext uri="{FF2B5EF4-FFF2-40B4-BE49-F238E27FC236}">
                <a16:creationId xmlns:a16="http://schemas.microsoft.com/office/drawing/2014/main" id="{FCB534D1-4F35-4A23-937C-CF1926B81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2FF32107-A618-4577-845B-A4DDAA718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C3A04657-B2D9-412A-9455-DA704CEB6B38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pl-PL" altLang="pl-PL" sz="1000">
              <a:solidFill>
                <a:schemeClr val="bg1"/>
              </a:solidFill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9C2B40E-7C62-43C9-98BF-54A9910A25E2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9" name="Obraz 6">
            <a:extLst>
              <a:ext uri="{FF2B5EF4-FFF2-40B4-BE49-F238E27FC236}">
                <a16:creationId xmlns:a16="http://schemas.microsoft.com/office/drawing/2014/main" id="{456E349F-5322-4054-A175-FAB33FFCB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129753" y="1628801"/>
            <a:ext cx="4154215" cy="446449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4572000" y="1628801"/>
            <a:ext cx="4468299" cy="446449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/>
          </p:nvPr>
        </p:nvSpPr>
        <p:spPr>
          <a:xfrm>
            <a:off x="129753" y="44624"/>
            <a:ext cx="8910546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129753" y="548680"/>
            <a:ext cx="8910546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4175852476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3">
            <a:extLst>
              <a:ext uri="{FF2B5EF4-FFF2-40B4-BE49-F238E27FC236}">
                <a16:creationId xmlns:a16="http://schemas.microsoft.com/office/drawing/2014/main" id="{4A32DB2D-BFA4-4B19-80B0-6194FA182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3F392831-A4AA-4BFA-A594-A56713579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D7B3DBA2-B3D6-4909-AA51-7060693082D8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pl-PL" altLang="pl-PL" sz="1000">
              <a:solidFill>
                <a:schemeClr val="bg1"/>
              </a:solidFill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1587508-74BD-4E98-8121-15132927968C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10" name="Obraz 6">
            <a:extLst>
              <a:ext uri="{FF2B5EF4-FFF2-40B4-BE49-F238E27FC236}">
                <a16:creationId xmlns:a16="http://schemas.microsoft.com/office/drawing/2014/main" id="{0737BB5E-46EE-4B30-B5D2-806BEAEA1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7505" y="1628800"/>
            <a:ext cx="4320000" cy="446449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4698051" y="1628801"/>
            <a:ext cx="4320000" cy="446449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107505" y="116632"/>
            <a:ext cx="8910546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/>
          </p:nvPr>
        </p:nvSpPr>
        <p:spPr>
          <a:xfrm>
            <a:off x="107505" y="1120625"/>
            <a:ext cx="4320000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/>
          </p:nvPr>
        </p:nvSpPr>
        <p:spPr>
          <a:xfrm>
            <a:off x="4698051" y="1120625"/>
            <a:ext cx="4320000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930403121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3">
            <a:extLst>
              <a:ext uri="{FF2B5EF4-FFF2-40B4-BE49-F238E27FC236}">
                <a16:creationId xmlns:a16="http://schemas.microsoft.com/office/drawing/2014/main" id="{E09458DA-60D0-46DC-81C7-352FC8E69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4B60ACB0-9271-471D-9374-AFC6FF216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5DF7D818-40D7-47A9-B063-F53577FE9AC3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pl-PL" altLang="pl-PL" sz="1000">
              <a:solidFill>
                <a:schemeClr val="bg1"/>
              </a:solidFill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5F96AB95-CF00-4448-A220-EEA84A5BBEAC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8" name="Obraz 6">
            <a:extLst>
              <a:ext uri="{FF2B5EF4-FFF2-40B4-BE49-F238E27FC236}">
                <a16:creationId xmlns:a16="http://schemas.microsoft.com/office/drawing/2014/main" id="{47826463-5E1D-493E-B5BD-5E79A8E01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3358009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116632"/>
            <a:ext cx="5461446" cy="60095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07504" y="1435100"/>
            <a:ext cx="335800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05746345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3">
            <a:extLst>
              <a:ext uri="{FF2B5EF4-FFF2-40B4-BE49-F238E27FC236}">
                <a16:creationId xmlns:a16="http://schemas.microsoft.com/office/drawing/2014/main" id="{0E782320-E545-43CD-8D27-8139436C8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071C63AD-288A-4752-8375-B922D2B3F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C5588D13-0C89-4031-B1C4-DE476AB2FDE0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pl-PL" altLang="pl-PL" sz="1000">
              <a:solidFill>
                <a:schemeClr val="bg1"/>
              </a:solidFill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8452644D-C024-4207-9FC5-E4A64621BE8D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8" name="Obraz 6">
            <a:extLst>
              <a:ext uri="{FF2B5EF4-FFF2-40B4-BE49-F238E27FC236}">
                <a16:creationId xmlns:a16="http://schemas.microsoft.com/office/drawing/2014/main" id="{30E3D084-2F0B-455A-B8CC-C37DD191D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0" y="283"/>
            <a:ext cx="9143622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086276741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B2EBB65F-25FD-48AC-852D-F256BD56D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AFC0E267-C554-4BFD-ADA5-86229407D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751839AC-D264-457B-AF0E-6616018005B6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A40C1657-5D4D-4DEA-B382-4D0069F32E35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ABAD356-4BB0-4CE3-8E74-9136D0E3E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7504" y="1772817"/>
            <a:ext cx="8928992" cy="439248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83549395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9992EC60-83F3-4170-A210-E0A2794A1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4E19F3BA-7B86-47B0-BF3E-31D13A22C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0"/>
            <a:ext cx="61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6754B808-28A0-4A61-AE61-D9A6052E3B3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 eaLnBrk="1" hangingPunct="1"/>
            <a:endParaRPr lang="pl-PL" altLang="pl-PL" sz="1000">
              <a:solidFill>
                <a:schemeClr val="bg1"/>
              </a:solidFill>
            </a:endParaRP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D1C24C9D-58C3-457D-921E-93DD0E8880DB}"/>
              </a:ext>
            </a:extLst>
          </p:cNvPr>
          <p:cNvSpPr/>
          <p:nvPr/>
        </p:nvSpPr>
        <p:spPr>
          <a:xfrm>
            <a:off x="7092950" y="6237288"/>
            <a:ext cx="1947863" cy="5508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l-PL" dirty="0"/>
              <a:t> 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B8D25FA-1E79-47FB-BBF4-A00E93BC0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6308725"/>
            <a:ext cx="18859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116632"/>
            <a:ext cx="2407096" cy="6009531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7504" y="116632"/>
            <a:ext cx="6369496" cy="600953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45687045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F2C36FF9-49B8-4151-9C9F-74D36F70F5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15888"/>
            <a:ext cx="82804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3AC4C71A-DE7B-416E-AE92-D66A2BC2C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773238"/>
            <a:ext cx="8280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ymbol zastępczy tekstu 2">
            <a:extLst>
              <a:ext uri="{FF2B5EF4-FFF2-40B4-BE49-F238E27FC236}">
                <a16:creationId xmlns:a16="http://schemas.microsoft.com/office/drawing/2014/main" id="{3C0D4CCF-85A3-449E-9EAD-73AF7EC61B9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25413" y="115888"/>
            <a:ext cx="8893175" cy="1728787"/>
          </a:xfrm>
        </p:spPr>
        <p:txBody>
          <a:bodyPr/>
          <a:lstStyle/>
          <a:p>
            <a:pPr algn="ctr"/>
            <a:r>
              <a:rPr lang="pl-PL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Rozpoznawanie monet</a:t>
            </a:r>
            <a:endParaRPr lang="pl-PL" altLang="pl-PL" dirty="0"/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3BB9B3C6-740E-4414-BDA4-F12290004D27}"/>
              </a:ext>
            </a:extLst>
          </p:cNvPr>
          <p:cNvSpPr txBox="1">
            <a:spLocks/>
          </p:cNvSpPr>
          <p:nvPr/>
        </p:nvSpPr>
        <p:spPr bwMode="auto">
          <a:xfrm>
            <a:off x="125412" y="2996952"/>
            <a:ext cx="889317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pl-PL" altLang="pl-PL" sz="2800" b="0" kern="0" dirty="0"/>
              <a:t>Adrian Matusiak</a:t>
            </a:r>
          </a:p>
          <a:p>
            <a:pPr algn="r"/>
            <a:r>
              <a:rPr lang="pl-PL" altLang="pl-PL" sz="2800" b="0" kern="0" dirty="0"/>
              <a:t>Algorytmy Uczenia Maszynowego</a:t>
            </a:r>
          </a:p>
          <a:p>
            <a:pPr algn="r"/>
            <a:r>
              <a:rPr lang="pl-PL" altLang="pl-PL" sz="2800" b="0" kern="0" dirty="0"/>
              <a:t>Wrocław, 20.06.2022</a:t>
            </a:r>
          </a:p>
        </p:txBody>
      </p:sp>
    </p:spTree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24794-7941-A81A-504D-87ABC52A3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505" y="1556792"/>
            <a:ext cx="5544615" cy="4536505"/>
          </a:xfrm>
        </p:spPr>
        <p:txBody>
          <a:bodyPr/>
          <a:lstStyle/>
          <a:p>
            <a:r>
              <a:rPr lang="pl-PL" sz="2000" dirty="0" err="1"/>
              <a:t>Niko’s</a:t>
            </a:r>
            <a:r>
              <a:rPr lang="pl-PL" sz="2000" dirty="0"/>
              <a:t> Project – </a:t>
            </a:r>
            <a:r>
              <a:rPr lang="pl-PL" sz="2000" dirty="0" err="1"/>
              <a:t>classifier</a:t>
            </a:r>
            <a:r>
              <a:rPr lang="pl-PL" sz="2000" dirty="0"/>
              <a:t>: SVM, </a:t>
            </a:r>
            <a:r>
              <a:rPr lang="pl-PL" sz="2000" dirty="0" err="1"/>
              <a:t>processing</a:t>
            </a:r>
            <a:r>
              <a:rPr lang="pl-PL" sz="2000" dirty="0"/>
              <a:t>: FFT, LDA (LDA opisany jako algorytm uczenia, gdy odpowiada on za redukcję wymiaru!)</a:t>
            </a:r>
          </a:p>
          <a:p>
            <a:r>
              <a:rPr lang="pl-PL" sz="2000" dirty="0"/>
              <a:t>Praca z IEEE – przykład złego doboru publikacji,</a:t>
            </a:r>
            <a:br>
              <a:rPr lang="pl-PL" sz="2000" dirty="0"/>
            </a:br>
            <a:r>
              <a:rPr lang="pl-PL" sz="2000" dirty="0"/>
              <a:t>ponieważ wbrew tytułowi: </a:t>
            </a:r>
            <a:r>
              <a:rPr lang="pl-PL" dirty="0"/>
              <a:t>„</a:t>
            </a:r>
            <a:r>
              <a:rPr lang="en-US" sz="1800" dirty="0"/>
              <a:t>COIN DETECTION AND RECOGNITION USING NEURAL NETWORKS</a:t>
            </a:r>
            <a:r>
              <a:rPr lang="pl-PL" sz="1800" dirty="0"/>
              <a:t>” </a:t>
            </a:r>
            <a:r>
              <a:rPr lang="pl-PL" sz="2000" dirty="0"/>
              <a:t>skupia się niemal wyłącznie na ekstrakcji cech za pomocą różnego rodzaju algorytmów – transformacji ortogonalnych. Sieć: FNN (</a:t>
            </a:r>
            <a:r>
              <a:rPr lang="pl-PL" sz="2000" dirty="0" err="1"/>
              <a:t>feedforward</a:t>
            </a:r>
            <a:r>
              <a:rPr lang="pl-PL" sz="2000" dirty="0"/>
              <a:t> – jednokierunkowa) – najczęściej utożsamiana z MLP, ale może być inna!</a:t>
            </a:r>
          </a:p>
          <a:p>
            <a:pPr marL="0" indent="0">
              <a:buNone/>
            </a:pPr>
            <a:endParaRPr lang="pl-PL" dirty="0"/>
          </a:p>
          <a:p>
            <a:endParaRPr lang="pl-PL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D5A2C-217C-DD77-FFCE-14BC7B1A26C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Co udało mi się znaleźć, przed wybraniem tematu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7A846-96F5-DCE9-6962-09DB61CBD4A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 err="1"/>
              <a:t>Research</a:t>
            </a:r>
            <a:r>
              <a:rPr lang="pl-PL" dirty="0"/>
              <a:t> teoretyczny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A99C01-581E-D6CB-609C-07B8A4965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068927"/>
            <a:ext cx="3033446" cy="1641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998F41-599D-AAAB-5438-37D794926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71" y="1889697"/>
            <a:ext cx="3295819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29789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24794-7941-A81A-504D-87ABC52A3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505" y="1556792"/>
            <a:ext cx="5544615" cy="4536505"/>
          </a:xfrm>
        </p:spPr>
        <p:txBody>
          <a:bodyPr/>
          <a:lstStyle/>
          <a:p>
            <a:r>
              <a:rPr lang="pl-PL" sz="2000" dirty="0" err="1"/>
              <a:t>Grid</a:t>
            </a:r>
            <a:r>
              <a:rPr lang="pl-PL" sz="2000" dirty="0"/>
              <a:t> Dynamics – świetny opis projektu, jednak podejście </a:t>
            </a:r>
            <a:r>
              <a:rPr lang="pl-PL" sz="2000" dirty="0" err="1"/>
              <a:t>AutoML</a:t>
            </a:r>
            <a:r>
              <a:rPr lang="pl-PL" sz="2000" dirty="0"/>
              <a:t>. Algorytm: KNN połączony z CNN. KNN do wyszukiwania w przestrzeni wektorów, CNN do uczenia.</a:t>
            </a:r>
          </a:p>
          <a:p>
            <a:r>
              <a:rPr lang="pl-PL" sz="2000" dirty="0"/>
              <a:t>Artykuł z IEEE: </a:t>
            </a:r>
            <a:r>
              <a:rPr lang="pl-PL" sz="1400" dirty="0"/>
              <a:t>2016 International Conference on </a:t>
            </a:r>
            <a:r>
              <a:rPr lang="pl-PL" sz="1400" dirty="0" err="1"/>
              <a:t>Frontiers</a:t>
            </a:r>
            <a:r>
              <a:rPr lang="pl-PL" sz="1400" dirty="0"/>
              <a:t> of Information Technology </a:t>
            </a:r>
            <a:r>
              <a:rPr lang="pl-PL" sz="2000" dirty="0"/>
              <a:t>– MLP ze wsteczną propagacją, ale znowu praca skupia się na nietypowej ekstrakcji (algorytm LDA jest tu zastąpiony prostszym PCA, używany jest też najbliższy sąsiad)</a:t>
            </a:r>
          </a:p>
          <a:p>
            <a:endParaRPr lang="pl-PL" sz="2000" dirty="0"/>
          </a:p>
          <a:p>
            <a:r>
              <a:rPr lang="pl-PL" sz="2000" dirty="0"/>
              <a:t>Wniosek z </a:t>
            </a:r>
            <a:r>
              <a:rPr lang="pl-PL" sz="2000" dirty="0" err="1"/>
              <a:t>researchu</a:t>
            </a:r>
            <a:r>
              <a:rPr lang="pl-PL" sz="2000" dirty="0"/>
              <a:t>: używane w tej tematyce powszechnie są algorytmy MLP i CNN. CNN nie jest algorytmem klasycznym, jednak może być dobrym benchmarkiem.</a:t>
            </a:r>
          </a:p>
          <a:p>
            <a:endParaRPr lang="pl-PL" sz="2000" dirty="0"/>
          </a:p>
          <a:p>
            <a:endParaRPr lang="pl-PL" dirty="0"/>
          </a:p>
          <a:p>
            <a:endParaRPr lang="pl-PL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D5A2C-217C-DD77-FFCE-14BC7B1A26C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Co udało mi się znaleźć, przed wybraniem tematu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7A846-96F5-DCE9-6962-09DB61CBD4A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 err="1"/>
              <a:t>Research</a:t>
            </a:r>
            <a:r>
              <a:rPr lang="pl-PL" dirty="0"/>
              <a:t> teoretyczny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535385-3B7C-00F0-52A2-4D9A7B128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5" y="395244"/>
            <a:ext cx="3600400" cy="174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68212B-4BA0-3996-0A11-B6226C6B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3410061"/>
            <a:ext cx="2317869" cy="19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11661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C31AD-F228-E07B-7194-B8C2FEA263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Słuchaj głupich rad „doświadczonych kolegów z W4”</a:t>
            </a:r>
          </a:p>
          <a:p>
            <a:r>
              <a:rPr lang="pl-PL" dirty="0"/>
              <a:t>Wybierz duży, ambitny </a:t>
            </a:r>
            <a:r>
              <a:rPr lang="pl-PL" dirty="0" err="1"/>
              <a:t>dataset</a:t>
            </a:r>
            <a:r>
              <a:rPr lang="pl-PL" dirty="0"/>
              <a:t>, który już ktoś wykorzystał w projektach – w końcu jest „sprawdzony”</a:t>
            </a:r>
          </a:p>
          <a:p>
            <a:r>
              <a:rPr lang="pl-PL" dirty="0"/>
              <a:t>Rozpisz sobie plan na projekt jak dla typowego projektu software, bez znajomości narzędzi związanych z AI</a:t>
            </a:r>
          </a:p>
          <a:p>
            <a:r>
              <a:rPr lang="pl-PL" dirty="0"/>
              <a:t>Poświęć większość swojego czasu na naukę </a:t>
            </a:r>
            <a:r>
              <a:rPr lang="pl-PL" dirty="0" err="1"/>
              <a:t>openCV</a:t>
            </a:r>
            <a:r>
              <a:rPr lang="pl-PL" dirty="0"/>
              <a:t> i </a:t>
            </a:r>
            <a:r>
              <a:rPr lang="pl-PL" dirty="0" err="1"/>
              <a:t>Kerasa</a:t>
            </a:r>
            <a:r>
              <a:rPr lang="pl-PL" dirty="0"/>
              <a:t> oraz stawianie nowych środowisk…</a:t>
            </a:r>
          </a:p>
          <a:p>
            <a:r>
              <a:rPr lang="pl-PL" dirty="0"/>
              <a:t>Odkryj wiele przydatnej wiedzy, jednak nie tej, która była </a:t>
            </a:r>
            <a:r>
              <a:rPr lang="pl-PL" dirty="0" err="1"/>
              <a:t>clue</a:t>
            </a:r>
            <a:r>
              <a:rPr lang="pl-PL" dirty="0"/>
              <a:t> przedmiotu i podziel się nią z innymi na tym seminarium…</a:t>
            </a:r>
          </a:p>
          <a:p>
            <a:endParaRPr lang="pl-P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04898-129F-0B7E-AC06-21DA6294E01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6B61A-7C69-2CC5-7887-9D60C2CA384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Jak nie robić pierwszego projektu z ML</a:t>
            </a:r>
          </a:p>
        </p:txBody>
      </p:sp>
    </p:spTree>
    <p:extLst>
      <p:ext uri="{BB962C8B-B14F-4D97-AF65-F5344CB8AC3E}">
        <p14:creationId xmlns:p14="http://schemas.microsoft.com/office/powerpoint/2010/main" val="1089485658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98BD1A-E927-7A57-0E1F-451322AEB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505" y="1556793"/>
            <a:ext cx="8910546" cy="4104456"/>
          </a:xfrm>
        </p:spPr>
        <p:txBody>
          <a:bodyPr/>
          <a:lstStyle/>
          <a:p>
            <a:r>
              <a:rPr lang="pl-PL" sz="2400" dirty="0" err="1"/>
              <a:t>Feature</a:t>
            </a:r>
            <a:r>
              <a:rPr lang="pl-PL" sz="2400" dirty="0"/>
              <a:t> engineering – niezrozumienie tematu w odniesieniu do obrazów</a:t>
            </a:r>
          </a:p>
          <a:p>
            <a:r>
              <a:rPr lang="pl-PL" sz="2400" dirty="0"/>
              <a:t>Brak odróżnienia algorytmów uczenia od algorytmów im towarzyszącym – np. redukcji</a:t>
            </a:r>
          </a:p>
          <a:p>
            <a:r>
              <a:rPr lang="pl-PL" sz="2400" dirty="0"/>
              <a:t>Pojęcie „klasy” w ML rozbieżne z OOP – nie trzeba budować diagramu klas – są inne priorytety</a:t>
            </a:r>
          </a:p>
          <a:p>
            <a:r>
              <a:rPr lang="pl-PL" sz="2400" dirty="0"/>
              <a:t>Niezrozumienie wymagań modeli – zwłaszcza dla sekwencyjnego MLP w </a:t>
            </a:r>
            <a:r>
              <a:rPr lang="pl-PL" sz="2400" dirty="0" err="1"/>
              <a:t>Kerasie</a:t>
            </a:r>
            <a:r>
              <a:rPr lang="pl-PL" sz="2400" dirty="0"/>
              <a:t>, budowanego inaczej niż w </a:t>
            </a:r>
            <a:r>
              <a:rPr lang="pl-PL" sz="2400" dirty="0" err="1"/>
              <a:t>sklearn</a:t>
            </a:r>
            <a:r>
              <a:rPr lang="pl-PL" sz="2400" dirty="0"/>
              <a:t> – problemy z różnymi rozmiarami zdjęć</a:t>
            </a:r>
          </a:p>
          <a:p>
            <a:r>
              <a:rPr lang="pl-PL" sz="2400" dirty="0"/>
              <a:t>Korzystanie z </a:t>
            </a:r>
            <a:r>
              <a:rPr lang="pl-PL" sz="2400" dirty="0" err="1"/>
              <a:t>datasetu</a:t>
            </a:r>
            <a:r>
              <a:rPr lang="pl-PL" sz="2400" dirty="0"/>
              <a:t> pobranego na lokalny dysk – od czego są metody „</a:t>
            </a:r>
            <a:r>
              <a:rPr lang="pl-PL" sz="2400" dirty="0" err="1"/>
              <a:t>fetch</a:t>
            </a:r>
            <a:r>
              <a:rPr lang="pl-PL" sz="2400" dirty="0"/>
              <a:t> from online </a:t>
            </a:r>
            <a:r>
              <a:rPr lang="pl-PL" sz="2400" dirty="0" err="1"/>
              <a:t>source</a:t>
            </a:r>
            <a:r>
              <a:rPr lang="pl-PL" sz="2400" dirty="0"/>
              <a:t>” – problemy z typowaniem zmiennych: </a:t>
            </a:r>
            <a:r>
              <a:rPr lang="pl-PL" sz="2400" dirty="0" err="1"/>
              <a:t>bunch</a:t>
            </a:r>
            <a:r>
              <a:rPr lang="pl-PL" sz="2400" dirty="0"/>
              <a:t> dla </a:t>
            </a:r>
            <a:r>
              <a:rPr lang="pl-PL" sz="2400" dirty="0" err="1"/>
              <a:t>sklearn</a:t>
            </a:r>
            <a:r>
              <a:rPr lang="pl-PL" sz="2400" dirty="0"/>
              <a:t>, brak obsługi list dla </a:t>
            </a:r>
            <a:r>
              <a:rPr lang="pl-PL" sz="2400" dirty="0" err="1"/>
              <a:t>Kerasa</a:t>
            </a:r>
            <a:endParaRPr lang="pl-PL" sz="2400" dirty="0"/>
          </a:p>
          <a:p>
            <a:endParaRPr lang="pl-PL" dirty="0"/>
          </a:p>
          <a:p>
            <a:endParaRPr lang="pl-P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7AD95-F816-16BF-A07D-648B52C0DB9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A4937-4F41-E4F1-6203-AA92C3C6991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Pierwsze błędy, przyczyny i wnioski</a:t>
            </a:r>
          </a:p>
        </p:txBody>
      </p:sp>
    </p:spTree>
    <p:extLst>
      <p:ext uri="{BB962C8B-B14F-4D97-AF65-F5344CB8AC3E}">
        <p14:creationId xmlns:p14="http://schemas.microsoft.com/office/powerpoint/2010/main" val="3472779238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8FCD1-A703-BCCD-C40A-C644CC4CFF9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09B1B-32F6-E6C6-E8CE-0D9FCA54C2E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 err="1"/>
              <a:t>Dataset</a:t>
            </a:r>
            <a:endParaRPr lang="pl-P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0670E9-29E1-F474-A00D-6B786313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88640"/>
            <a:ext cx="6089963" cy="5131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0D43FB-BDDB-8019-9FEE-3B41A742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21" y="1799256"/>
            <a:ext cx="2396190" cy="63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65086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Graphical user interface&#10;&#10;Description automatically generated">
            <a:extLst>
              <a:ext uri="{FF2B5EF4-FFF2-40B4-BE49-F238E27FC236}">
                <a16:creationId xmlns:a16="http://schemas.microsoft.com/office/drawing/2014/main" id="{99045348-E31F-4033-D530-08594E7733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2183222"/>
            <a:ext cx="8910638" cy="3283719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9A39F-DEB6-4B0E-F76E-A540CC52985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8323E-7B12-33D4-C848-A12AE503AE4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33627" y="692696"/>
            <a:ext cx="8910546" cy="864096"/>
          </a:xfrm>
        </p:spPr>
        <p:txBody>
          <a:bodyPr/>
          <a:lstStyle/>
          <a:p>
            <a:r>
              <a:rPr lang="pl-PL" dirty="0"/>
              <a:t>Przetwarzanie obrazów – zbiór treningowy: złotówki</a:t>
            </a:r>
          </a:p>
        </p:txBody>
      </p:sp>
    </p:spTree>
    <p:extLst>
      <p:ext uri="{BB962C8B-B14F-4D97-AF65-F5344CB8AC3E}">
        <p14:creationId xmlns:p14="http://schemas.microsoft.com/office/powerpoint/2010/main" val="80258414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icture containing text&#10;&#10;Description automatically generated">
            <a:extLst>
              <a:ext uri="{FF2B5EF4-FFF2-40B4-BE49-F238E27FC236}">
                <a16:creationId xmlns:a16="http://schemas.microsoft.com/office/drawing/2014/main" id="{0FF46FF7-5006-ADEB-1C39-210C3D60B8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60" y="1773833"/>
            <a:ext cx="5879132" cy="453548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4B20A-32C2-E9AD-BC9E-A2716E937E0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EAFB6-6949-EA47-6086-91EF8181AFF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 err="1"/>
              <a:t>Augmented</a:t>
            </a:r>
            <a:r>
              <a:rPr lang="pl-PL" dirty="0"/>
              <a:t> </a:t>
            </a:r>
            <a:r>
              <a:rPr lang="pl-PL" dirty="0" err="1"/>
              <a:t>images</a:t>
            </a:r>
            <a:r>
              <a:rPr lang="pl-PL" dirty="0"/>
              <a:t> – przykład złotówki</a:t>
            </a:r>
          </a:p>
        </p:txBody>
      </p:sp>
    </p:spTree>
    <p:extLst>
      <p:ext uri="{BB962C8B-B14F-4D97-AF65-F5344CB8AC3E}">
        <p14:creationId xmlns:p14="http://schemas.microsoft.com/office/powerpoint/2010/main" val="2373510103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477784-3FAD-57D1-A4B2-84D89EB36B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sz="2400" dirty="0"/>
              <a:t>MLP nie rozumie „obiektów 2D”, wymagany jest </a:t>
            </a:r>
            <a:r>
              <a:rPr lang="pl-PL" sz="2400" dirty="0" err="1"/>
              <a:t>reshape</a:t>
            </a:r>
            <a:endParaRPr lang="pl-PL" sz="2400" dirty="0"/>
          </a:p>
          <a:p>
            <a:r>
              <a:rPr lang="pl-PL" sz="2400" dirty="0" err="1"/>
              <a:t>Pixel</a:t>
            </a:r>
            <a:r>
              <a:rPr lang="pl-PL" sz="2400" dirty="0"/>
              <a:t> = </a:t>
            </a:r>
            <a:r>
              <a:rPr lang="pl-PL" sz="2400" dirty="0" err="1"/>
              <a:t>feature</a:t>
            </a:r>
            <a:r>
              <a:rPr lang="pl-PL" sz="2400" dirty="0"/>
              <a:t>, np. dla klasycznych zbiorów CIFAR100 możemy zrobić </a:t>
            </a:r>
            <a:r>
              <a:rPr lang="pl-PL" sz="2400" dirty="0" err="1"/>
              <a:t>reshape</a:t>
            </a:r>
            <a:r>
              <a:rPr lang="pl-PL" sz="2400" dirty="0"/>
              <a:t> to 25x25 = 225 </a:t>
            </a:r>
            <a:r>
              <a:rPr lang="pl-PL" sz="2400" dirty="0" err="1"/>
              <a:t>features</a:t>
            </a:r>
            <a:r>
              <a:rPr lang="pl-PL" sz="2400" dirty="0"/>
              <a:t>, stąd obrazy są problematyczne</a:t>
            </a:r>
          </a:p>
          <a:p>
            <a:r>
              <a:rPr lang="pl-PL" sz="2400" dirty="0"/>
              <a:t>Musimy zadbać o to, aby przynajmniej pierwszy wymiar był taki sam i dopasować modele do wejść – kluczowy jest tutaj kształt – o tym dalej</a:t>
            </a:r>
          </a:p>
          <a:p>
            <a:r>
              <a:rPr lang="pl-PL" sz="2400" dirty="0"/>
              <a:t>Wyniki – Poniżej 40 iteracji „nie działa”. A czasem i powyżej. Wymaga wysokiego wytrenowania sieci. W wersji klasycznej się nie nadaje, wersji Mixed-MLP Google nie testowałem.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51B04-6F8D-4D7E-1468-977800493A3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91D2A-870D-0FFC-C09B-6542F973A2A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Algorytm MLP</a:t>
            </a:r>
          </a:p>
        </p:txBody>
      </p:sp>
    </p:spTree>
    <p:extLst>
      <p:ext uri="{BB962C8B-B14F-4D97-AF65-F5344CB8AC3E}">
        <p14:creationId xmlns:p14="http://schemas.microsoft.com/office/powerpoint/2010/main" val="4040774028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69D99A-0FD2-F684-F42F-6AFD009354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923" y="1916832"/>
            <a:ext cx="4889751" cy="307990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52C89-E0C1-7C01-1E41-1400154872D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D4F4C-4720-D59D-9DA6-18D3FC20680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Tensor </a:t>
            </a:r>
            <a:r>
              <a:rPr lang="pl-PL" dirty="0" err="1"/>
              <a:t>shape</a:t>
            </a:r>
            <a:r>
              <a:rPr lang="pl-PL" dirty="0"/>
              <a:t> i MLP – „niezbyt dobrana para”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D26A04-0368-0C80-7696-8F390887C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100733"/>
            <a:ext cx="5258364" cy="772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D3083C-7FE2-A069-486F-C7A2E47D9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3" y="5157192"/>
            <a:ext cx="6578938" cy="984301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6386FCED-F56E-6BBD-0227-548BE5D9A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545798" y="2689638"/>
            <a:ext cx="6346682" cy="77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6D897C-87AF-C04E-5E17-22CCF444E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651" y="3570016"/>
            <a:ext cx="2756241" cy="155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33157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159F1-96E7-A8AB-EDBF-885495D57D2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Coś, co okazało się niepotrzebne, ale stanowiło istotną część mojego </a:t>
            </a:r>
            <a:r>
              <a:rPr lang="pl-PL" dirty="0" err="1"/>
              <a:t>researchu</a:t>
            </a:r>
            <a:endParaRPr lang="pl-P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0D3B7-60C7-6884-5812-C1C99DA6E2C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7995" y="730474"/>
            <a:ext cx="8910546" cy="864096"/>
          </a:xfrm>
        </p:spPr>
        <p:txBody>
          <a:bodyPr/>
          <a:lstStyle/>
          <a:p>
            <a:r>
              <a:rPr lang="pl-PL" dirty="0"/>
              <a:t>Algorytmy LDA i PCA – przykład implementacji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CA0C76-6256-7883-29ED-0779F6894A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34198" y="2386732"/>
            <a:ext cx="5658141" cy="2876698"/>
          </a:xfrm>
        </p:spPr>
      </p:pic>
    </p:spTree>
    <p:extLst>
      <p:ext uri="{BB962C8B-B14F-4D97-AF65-F5344CB8AC3E}">
        <p14:creationId xmlns:p14="http://schemas.microsoft.com/office/powerpoint/2010/main" val="274258761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451720-366D-B510-110F-8C2F7F0F16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50958" y="1557338"/>
            <a:ext cx="5424622" cy="453548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E9558-71A3-0ECC-8DDA-AC6668EB881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794B5-F0F8-D169-F9B2-06A9E6478DE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Algorytm SVM</a:t>
            </a:r>
          </a:p>
        </p:txBody>
      </p:sp>
    </p:spTree>
    <p:extLst>
      <p:ext uri="{BB962C8B-B14F-4D97-AF65-F5344CB8AC3E}">
        <p14:creationId xmlns:p14="http://schemas.microsoft.com/office/powerpoint/2010/main" val="657389276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60E0BB4-A5A4-DA41-E6B4-4DFE36EDBA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5" y="1484784"/>
            <a:ext cx="3410263" cy="462595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B2F96-0468-1EEE-48A6-458ACD90056F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53998" y="315209"/>
            <a:ext cx="8910546" cy="864096"/>
          </a:xfrm>
        </p:spPr>
        <p:txBody>
          <a:bodyPr/>
          <a:lstStyle/>
          <a:p>
            <a:r>
              <a:rPr lang="pl-PL" dirty="0"/>
              <a:t>Uczenie algorytmem SVM - wizualizacja</a:t>
            </a:r>
          </a:p>
        </p:txBody>
      </p:sp>
      <p:pic>
        <p:nvPicPr>
          <p:cNvPr id="8" name="Picture 7" descr="Graphical user interface, application, line chart&#10;&#10;Description automatically generated">
            <a:extLst>
              <a:ext uri="{FF2B5EF4-FFF2-40B4-BE49-F238E27FC236}">
                <a16:creationId xmlns:a16="http://schemas.microsoft.com/office/drawing/2014/main" id="{37B0F1DC-606E-DCFF-0350-4D6F13099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484784"/>
            <a:ext cx="3362898" cy="462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68693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BA1075-7ABF-ECA3-F152-6A05E59CC6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Bardzo mało strojenia parametrów</a:t>
            </a:r>
          </a:p>
          <a:p>
            <a:r>
              <a:rPr lang="pl-PL" dirty="0"/>
              <a:t>Skuteczne modele, zwłaszcza dla większej ilości danych</a:t>
            </a:r>
          </a:p>
          <a:p>
            <a:r>
              <a:rPr lang="pl-PL" dirty="0"/>
              <a:t>Brak większych problemów z </a:t>
            </a:r>
            <a:r>
              <a:rPr lang="pl-PL" dirty="0" err="1"/>
              <a:t>preprocessingiem</a:t>
            </a:r>
            <a:r>
              <a:rPr lang="pl-PL" dirty="0"/>
              <a:t> danych, brak nawet większej potrzeby ekstrakcji cech przy pomocy algorytmów</a:t>
            </a:r>
          </a:p>
          <a:p>
            <a:r>
              <a:rPr lang="pl-PL" dirty="0"/>
              <a:t>Bardzo długo się uczy: 4 klasy – 8 minut, 18 klas – 65 minut, 211 klas… postanowiłem już tego nie sprawdzać.</a:t>
            </a:r>
          </a:p>
          <a:p>
            <a:r>
              <a:rPr lang="pl-PL" dirty="0"/>
              <a:t>Częściowo klasyczny algorytm, który w niektórych przypadkach potrafi dorównać lub przewyższyć CNN</a:t>
            </a:r>
          </a:p>
          <a:p>
            <a:r>
              <a:rPr lang="pl-PL" b="1" dirty="0"/>
              <a:t>Wyniki: 64% dla 4 klas, 74% dla 18 klas.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90A4B-66D3-8281-31A5-91F1F4C425C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73482-01CC-4650-0825-90791A5C73E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Cechy SVM na podstawie projektu</a:t>
            </a:r>
          </a:p>
        </p:txBody>
      </p:sp>
    </p:spTree>
    <p:extLst>
      <p:ext uri="{BB962C8B-B14F-4D97-AF65-F5344CB8AC3E}">
        <p14:creationId xmlns:p14="http://schemas.microsoft.com/office/powerpoint/2010/main" val="773937324"/>
      </p:ext>
    </p:extLst>
  </p:cSld>
  <p:clrMapOvr>
    <a:masterClrMapping/>
  </p:clrMapOvr>
  <p:transition>
    <p:randomBa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03CFCC-DAE3-2BE3-9778-05A033CD6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753" y="1268760"/>
            <a:ext cx="8910546" cy="4536505"/>
          </a:xfrm>
        </p:spPr>
        <p:txBody>
          <a:bodyPr/>
          <a:lstStyle/>
          <a:p>
            <a:r>
              <a:rPr lang="pl-PL" dirty="0"/>
              <a:t>Zrealizowałem dwa: własny ręczny i ze wstępnym wytrenowaniem na modelu EfficientNetB3 – który sam sobie dobrze radzi z wykrywaniem cech.</a:t>
            </a:r>
          </a:p>
          <a:p>
            <a:r>
              <a:rPr lang="pl-PL" dirty="0"/>
              <a:t>EfficientNetB3: Czas nauki: 8 epok, 2h24m na CPU, dopasowanie </a:t>
            </a:r>
            <a:r>
              <a:rPr lang="pl-PL" b="1" dirty="0"/>
              <a:t>83</a:t>
            </a:r>
            <a:r>
              <a:rPr lang="pl-PL" dirty="0"/>
              <a:t>% - na pełnym zbiorze.</a:t>
            </a:r>
          </a:p>
          <a:p>
            <a:r>
              <a:rPr lang="pl-PL" dirty="0"/>
              <a:t>Ręczny algorytm łączony (6 warstw, w tym dwie </a:t>
            </a:r>
            <a:r>
              <a:rPr lang="pl-PL" dirty="0" err="1"/>
              <a:t>konwolucyjne</a:t>
            </a:r>
            <a:r>
              <a:rPr lang="pl-PL" dirty="0"/>
              <a:t>, max </a:t>
            </a:r>
            <a:r>
              <a:rPr lang="pl-PL" dirty="0" err="1"/>
              <a:t>pooling</a:t>
            </a:r>
            <a:r>
              <a:rPr lang="pl-PL" dirty="0"/>
              <a:t>, </a:t>
            </a:r>
            <a:r>
              <a:rPr lang="pl-PL" dirty="0" err="1"/>
              <a:t>flatten</a:t>
            </a:r>
            <a:r>
              <a:rPr lang="pl-PL" dirty="0"/>
              <a:t> i 2x zagęszczenie). Pierwsze wykonanie – dopasowanie </a:t>
            </a:r>
            <a:r>
              <a:rPr lang="pl-PL" b="1" dirty="0"/>
              <a:t>92%</a:t>
            </a:r>
            <a:r>
              <a:rPr lang="pl-PL" dirty="0"/>
              <a:t> na zbiorze 18 klas.</a:t>
            </a:r>
          </a:p>
          <a:p>
            <a:r>
              <a:rPr lang="pl-PL" dirty="0"/>
              <a:t>Czas wykonania dla pełnego zbioru: 30 minut, dopasowanie </a:t>
            </a:r>
            <a:r>
              <a:rPr lang="pl-PL" b="1" dirty="0"/>
              <a:t>100%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D96E-52CA-BE8F-7331-53748189158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3391E-9EB2-1D2C-99A9-4C4DFF032A9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Algorytmy CNN i połączone</a:t>
            </a:r>
          </a:p>
        </p:txBody>
      </p:sp>
    </p:spTree>
    <p:extLst>
      <p:ext uri="{BB962C8B-B14F-4D97-AF65-F5344CB8AC3E}">
        <p14:creationId xmlns:p14="http://schemas.microsoft.com/office/powerpoint/2010/main" val="1244213161"/>
      </p:ext>
    </p:extLst>
  </p:cSld>
  <p:clrMapOvr>
    <a:masterClrMapping/>
  </p:clrMapOvr>
  <p:transition>
    <p:randomBa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7F3907-CEA6-CAE0-B566-7B57021E5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091" y="1484784"/>
            <a:ext cx="4037118" cy="4248473"/>
          </a:xfrm>
        </p:spPr>
        <p:txBody>
          <a:bodyPr/>
          <a:lstStyle/>
          <a:p>
            <a:r>
              <a:rPr lang="pl-PL" sz="2400" dirty="0"/>
              <a:t>Mimo resetowania środowiska, po dokonaniu drobnych zmian udaje mi się trafić z pierwszą iteracją w 100% </a:t>
            </a:r>
            <a:r>
              <a:rPr lang="pl-PL" sz="2400" dirty="0" err="1"/>
              <a:t>acc</a:t>
            </a:r>
            <a:r>
              <a:rPr lang="pl-PL" sz="2400" dirty="0"/>
              <a:t>.</a:t>
            </a:r>
          </a:p>
          <a:p>
            <a:r>
              <a:rPr lang="pl-PL" sz="2400" dirty="0"/>
              <a:t>Dla małego zbioru, który został podzielony 80/20, </a:t>
            </a:r>
            <a:r>
              <a:rPr lang="pl-PL" sz="2400" dirty="0" err="1"/>
              <a:t>training</a:t>
            </a:r>
            <a:r>
              <a:rPr lang="pl-PL" sz="2400" dirty="0"/>
              <a:t> wynosiło </a:t>
            </a:r>
            <a:r>
              <a:rPr lang="pl-PL" sz="2400" b="1" dirty="0"/>
              <a:t>92%</a:t>
            </a:r>
            <a:r>
              <a:rPr lang="pl-PL" sz="2400" dirty="0"/>
              <a:t>. Dla nowego zbioru testującego – </a:t>
            </a:r>
            <a:r>
              <a:rPr lang="pl-PL" sz="2400" dirty="0" err="1"/>
              <a:t>training</a:t>
            </a:r>
            <a:r>
              <a:rPr lang="pl-PL" sz="2400" dirty="0"/>
              <a:t> od razu 100% </a:t>
            </a:r>
            <a:r>
              <a:rPr lang="pl-PL" sz="2400" dirty="0" err="1"/>
              <a:t>acc</a:t>
            </a:r>
            <a:r>
              <a:rPr lang="pl-PL" sz="2400" dirty="0"/>
              <a:t>.</a:t>
            </a:r>
          </a:p>
          <a:p>
            <a:endParaRPr lang="pl-P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044A8-C94C-2738-87A3-54DB0A73F94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l-PL" dirty="0"/>
              <a:t>Pytania i odpowiedzi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C0C62-54C4-8841-6B93-4184D1FE484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Skąd 100%? </a:t>
            </a:r>
          </a:p>
        </p:txBody>
      </p:sp>
      <p:pic>
        <p:nvPicPr>
          <p:cNvPr id="6" name="Picture 5" descr="Graphical user interface, line chart&#10;&#10;Description automatically generated">
            <a:extLst>
              <a:ext uri="{FF2B5EF4-FFF2-40B4-BE49-F238E27FC236}">
                <a16:creationId xmlns:a16="http://schemas.microsoft.com/office/drawing/2014/main" id="{DB36B0C5-6CDF-6FA5-E868-9DA002D9D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924690"/>
            <a:ext cx="3749085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81729"/>
      </p:ext>
    </p:extLst>
  </p:cSld>
  <p:clrMapOvr>
    <a:masterClrMapping/>
  </p:clrMapOvr>
  <p:transition>
    <p:randomBa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1F87CE-26BC-9BC9-D929-B3206CFE51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9592" y="1904257"/>
            <a:ext cx="6998950" cy="426104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55E8B-96C3-2312-C1E5-2078E05F1E8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F938E-7C2C-FC9A-C49D-C0804FC3F30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16727" y="692695"/>
            <a:ext cx="8910546" cy="864096"/>
          </a:xfrm>
        </p:spPr>
        <p:txBody>
          <a:bodyPr/>
          <a:lstStyle/>
          <a:p>
            <a:r>
              <a:rPr lang="pl-PL" dirty="0" err="1"/>
              <a:t>Keras</a:t>
            </a:r>
            <a:r>
              <a:rPr lang="pl-PL" dirty="0"/>
              <a:t> </a:t>
            </a:r>
            <a:r>
              <a:rPr lang="pl-PL" dirty="0" err="1"/>
              <a:t>flow</a:t>
            </a:r>
            <a:r>
              <a:rPr lang="pl-PL" dirty="0"/>
              <a:t> – zapomnijcie o ręcznym liczeniu cech!</a:t>
            </a:r>
          </a:p>
        </p:txBody>
      </p:sp>
    </p:spTree>
    <p:extLst>
      <p:ext uri="{BB962C8B-B14F-4D97-AF65-F5344CB8AC3E}">
        <p14:creationId xmlns:p14="http://schemas.microsoft.com/office/powerpoint/2010/main" val="1649656139"/>
      </p:ext>
    </p:extLst>
  </p:cSld>
  <p:clrMapOvr>
    <a:masterClrMapping/>
  </p:clrMapOvr>
  <p:transition>
    <p:randomBa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AC0D5511-EF90-E48D-E750-32D0DD2AEF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879" y="1557338"/>
            <a:ext cx="4150780" cy="453548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2D93F-B56B-5A45-55BE-E3BF3633690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 err="1"/>
              <a:t>Classification</a:t>
            </a:r>
            <a:r>
              <a:rPr lang="pl-PL" dirty="0"/>
              <a:t> report</a:t>
            </a:r>
          </a:p>
        </p:txBody>
      </p:sp>
    </p:spTree>
    <p:extLst>
      <p:ext uri="{BB962C8B-B14F-4D97-AF65-F5344CB8AC3E}">
        <p14:creationId xmlns:p14="http://schemas.microsoft.com/office/powerpoint/2010/main" val="2740260529"/>
      </p:ext>
    </p:extLst>
  </p:cSld>
  <p:clrMapOvr>
    <a:masterClrMapping/>
  </p:clrMapOvr>
  <p:transition>
    <p:randomBa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29DB81-E0C0-997F-3CBD-154C1EC470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52545" y="1557338"/>
            <a:ext cx="5621448" cy="453548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7C7C1-EB93-9150-A190-1BF19B1BA5C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29753" y="333127"/>
            <a:ext cx="8910546" cy="864096"/>
          </a:xfrm>
        </p:spPr>
        <p:txBody>
          <a:bodyPr/>
          <a:lstStyle/>
          <a:p>
            <a:r>
              <a:rPr lang="pl-PL" dirty="0"/>
              <a:t>Training and </a:t>
            </a:r>
            <a:r>
              <a:rPr lang="pl-PL" dirty="0" err="1"/>
              <a:t>Validation</a:t>
            </a:r>
            <a:r>
              <a:rPr lang="pl-PL" dirty="0"/>
              <a:t> </a:t>
            </a:r>
            <a:r>
              <a:rPr lang="pl-PL" dirty="0" err="1"/>
              <a:t>Loss</a:t>
            </a:r>
            <a:br>
              <a:rPr lang="pl-PL" dirty="0"/>
            </a:br>
            <a:r>
              <a:rPr lang="pl-PL" dirty="0" err="1"/>
              <a:t>Validation</a:t>
            </a:r>
            <a:r>
              <a:rPr lang="pl-PL" dirty="0"/>
              <a:t> - osobny, trzeci zbiór </a:t>
            </a:r>
          </a:p>
        </p:txBody>
      </p:sp>
    </p:spTree>
    <p:extLst>
      <p:ext uri="{BB962C8B-B14F-4D97-AF65-F5344CB8AC3E}">
        <p14:creationId xmlns:p14="http://schemas.microsoft.com/office/powerpoint/2010/main" val="2750616733"/>
      </p:ext>
    </p:extLst>
  </p:cSld>
  <p:clrMapOvr>
    <a:masterClrMapping/>
  </p:clrMapOvr>
  <p:transition>
    <p:randomBa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4B347D-8161-0B6D-A61F-B6BC514C83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66991" y="1557338"/>
            <a:ext cx="5192556" cy="453548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7B9CB-55F5-4426-2EC8-C7928C42A3D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2049867"/>
      </p:ext>
    </p:extLst>
  </p:cSld>
  <p:clrMapOvr>
    <a:masterClrMapping/>
  </p:clrMapOvr>
  <p:transition>
    <p:randomBa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E7F6A1-5391-91D8-A338-DB13FA59B6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80112" y="1556792"/>
            <a:ext cx="3260345" cy="453548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E3A5B-6AE3-A856-FC5D-A04DE071F06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55159" y="188640"/>
            <a:ext cx="8910546" cy="864096"/>
          </a:xfrm>
        </p:spPr>
        <p:txBody>
          <a:bodyPr/>
          <a:lstStyle/>
          <a:p>
            <a:r>
              <a:rPr lang="pl-PL" dirty="0"/>
              <a:t>(Smutne) wnioski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DB2F6-81A9-315B-0924-E3932F2DCFB6}"/>
              </a:ext>
            </a:extLst>
          </p:cNvPr>
          <p:cNvSpPr txBox="1"/>
          <p:nvPr/>
        </p:nvSpPr>
        <p:spPr>
          <a:xfrm>
            <a:off x="311310" y="908720"/>
            <a:ext cx="4679576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Najbardziej klasyczny algorytm – MLP – sprawia najwięcej problemów dla obrazów – inaczej dla danych liczbowych lub małej ilości klas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Większość metod z publikacji skupiających się na metodach data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mining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, jeszcze przed zastosowaniem NN nie da lepszego wyniku, niż gotowy model z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Kerasa</a:t>
            </a:r>
            <a:endParaRPr lang="pl-P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Docelowo – w przyszłości mając potrzebę wykorzystania sieci neuronowej, z dużo większym prawdopodobieństwem sięgnę po sieci głębokie – te metody są prostsze w implementacji, mimo bycia bardziej zaawansowanym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Modele przygotowane z myślą o klasyfikacji tylko dwóch klas, sprawdzają się również dla skomplikowanych </a:t>
            </a:r>
            <a:r>
              <a:rPr lang="pl-PL" dirty="0" err="1">
                <a:latin typeface="Calibri" panose="020F0502020204030204" pitchFamily="34" charset="0"/>
                <a:cs typeface="Calibri" panose="020F0502020204030204" pitchFamily="34" charset="0"/>
              </a:rPr>
              <a:t>datasetów</a:t>
            </a:r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, takich jak mój – 211 klas – i mogą dawać one jeszcze lepsze wyniki…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40567910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prezentacja_v1_2017-03_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prezentacja_v1_2017-03_pl (2)</Template>
  <TotalTime>5157</TotalTime>
  <Words>905</Words>
  <Application>Microsoft Office PowerPoint</Application>
  <PresentationFormat>On-screen Show (4:3)</PresentationFormat>
  <Paragraphs>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Roboto</vt:lpstr>
      <vt:lpstr>Trebuchet MS</vt:lpstr>
      <vt:lpstr>prezentacja_v1_2017-03_pl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Olivier Kroll (247354)</dc:creator>
  <cp:lastModifiedBy>Adrian Matusiak (247336)</cp:lastModifiedBy>
  <cp:revision>55</cp:revision>
  <cp:lastPrinted>2017-02-27T13:04:03Z</cp:lastPrinted>
  <dcterms:created xsi:type="dcterms:W3CDTF">2022-04-21T06:50:50Z</dcterms:created>
  <dcterms:modified xsi:type="dcterms:W3CDTF">2022-06-21T14:46:52Z</dcterms:modified>
</cp:coreProperties>
</file>